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p:regular r:id="rId13"/>
      <p:bold r:id="rId14"/>
      <p:italic r:id="rId15"/>
      <p:boldItalic r:id="rId16"/>
    </p:embeddedFont>
    <p:embeddedFont>
      <p:font typeface="Montserrat"/>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font" Target="fonts/Roboto-regular.fntdata"/><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Montserrat-regular.fntdata"/><Relationship Id="rId16" Type="http://schemas.openxmlformats.org/officeDocument/2006/relationships/font" Target="fonts/Roboto-boldItalic.fntdata"/><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ba2ec12fdd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ba2ec12fdd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ba2ec12fdd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ba2ec12fdd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ba2ec12fdd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ba2ec12fdd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ba2ec12fdd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ba2ec12fdd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ba2ec12fdd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ba2ec12fdd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ba2ec12fdd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ba2ec12fdd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kaggle.com/datasets/anubhavgoyal10/laptop-prices-datase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023275" y="1923575"/>
            <a:ext cx="5804400" cy="147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a:t>ANALYSIS OF LAPTOP PRICES DATASET</a:t>
            </a:r>
            <a:endParaRPr b="1" sz="2100"/>
          </a:p>
        </p:txBody>
      </p:sp>
      <p:sp>
        <p:nvSpPr>
          <p:cNvPr id="135" name="Google Shape;135;p13"/>
          <p:cNvSpPr txBox="1"/>
          <p:nvPr>
            <p:ph idx="1" type="subTitle"/>
          </p:nvPr>
        </p:nvSpPr>
        <p:spPr>
          <a:xfrm>
            <a:off x="5673300" y="2488775"/>
            <a:ext cx="3470700" cy="2654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dk2"/>
                </a:solidFill>
              </a:rPr>
              <a:t> </a:t>
            </a:r>
            <a:r>
              <a:rPr lang="en">
                <a:solidFill>
                  <a:schemeClr val="dk2"/>
                </a:solidFill>
              </a:rPr>
              <a:t>ALY6015 INTERMEDIATE ANALYTICS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                  PROF. MYKHAYLO TRUBSKYY</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  BY: </a:t>
            </a:r>
            <a:endParaRPr>
              <a:solidFill>
                <a:schemeClr val="dk2"/>
              </a:solidFill>
            </a:endParaRPr>
          </a:p>
          <a:p>
            <a:pPr indent="0" lvl="0" marL="0" rtl="0" algn="l">
              <a:spcBef>
                <a:spcPts val="0"/>
              </a:spcBef>
              <a:spcAft>
                <a:spcPts val="0"/>
              </a:spcAft>
              <a:buNone/>
            </a:pPr>
            <a:r>
              <a:rPr lang="en">
                <a:solidFill>
                  <a:schemeClr val="dk2"/>
                </a:solidFill>
              </a:rPr>
              <a:t>  </a:t>
            </a:r>
            <a:r>
              <a:rPr lang="en">
                <a:solidFill>
                  <a:schemeClr val="dk2"/>
                </a:solidFill>
              </a:rPr>
              <a:t>VAIBHAV SALONIA</a:t>
            </a:r>
            <a:endParaRPr>
              <a:solidFill>
                <a:schemeClr val="dk2"/>
              </a:solidFill>
            </a:endParaRPr>
          </a:p>
          <a:p>
            <a:pPr indent="0" lvl="0" marL="0" rtl="0" algn="l">
              <a:spcBef>
                <a:spcPts val="0"/>
              </a:spcBef>
              <a:spcAft>
                <a:spcPts val="0"/>
              </a:spcAft>
              <a:buNone/>
            </a:pPr>
            <a:r>
              <a:rPr lang="en">
                <a:solidFill>
                  <a:schemeClr val="dk2"/>
                </a:solidFill>
              </a:rPr>
              <a:t>  HRITHICK GOKUL YED</a:t>
            </a:r>
            <a:r>
              <a:rPr lang="en">
                <a:solidFill>
                  <a:schemeClr val="dk2"/>
                </a:solidFill>
              </a:rPr>
              <a:t>DULA</a:t>
            </a:r>
            <a:endParaRPr>
              <a:solidFill>
                <a:schemeClr val="dk2"/>
              </a:solidFill>
            </a:endParaRPr>
          </a:p>
          <a:p>
            <a:pPr indent="0" lvl="0" marL="0" rtl="0" algn="l">
              <a:spcBef>
                <a:spcPts val="0"/>
              </a:spcBef>
              <a:spcAft>
                <a:spcPts val="0"/>
              </a:spcAft>
              <a:buNone/>
            </a:pPr>
            <a:r>
              <a:rPr lang="en"/>
              <a:t> </a:t>
            </a:r>
            <a:r>
              <a:rPr lang="en">
                <a:solidFill>
                  <a:schemeClr val="dk2"/>
                </a:solidFill>
              </a:rPr>
              <a:t> </a:t>
            </a:r>
            <a:r>
              <a:rPr lang="en">
                <a:solidFill>
                  <a:schemeClr val="dk2"/>
                </a:solidFill>
              </a:rPr>
              <a:t>ANBIRKINIAN KANNAN</a:t>
            </a:r>
            <a:endParaRPr/>
          </a:p>
          <a:p>
            <a:pPr indent="0" lvl="0" marL="0" rtl="0" algn="l">
              <a:spcBef>
                <a:spcPts val="0"/>
              </a:spcBef>
              <a:spcAft>
                <a:spcPts val="0"/>
              </a:spcAft>
              <a:buNone/>
            </a:pPr>
            <a:r>
              <a:rPr lang="en"/>
              <a:t> </a:t>
            </a:r>
            <a:endParaRPr/>
          </a:p>
        </p:txBody>
      </p:sp>
      <p:sp>
        <p:nvSpPr>
          <p:cNvPr id="136" name="Google Shape;136;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142" name="Google Shape;142;p14"/>
          <p:cNvSpPr txBox="1"/>
          <p:nvPr>
            <p:ph idx="1" type="body"/>
          </p:nvPr>
        </p:nvSpPr>
        <p:spPr>
          <a:xfrm>
            <a:off x="1297500" y="965275"/>
            <a:ext cx="7038900" cy="1263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400">
                <a:solidFill>
                  <a:srgbClr val="ECECEC"/>
                </a:solidFill>
                <a:highlight>
                  <a:srgbClr val="212121"/>
                </a:highlight>
                <a:latin typeface="Roboto"/>
                <a:ea typeface="Roboto"/>
                <a:cs typeface="Roboto"/>
                <a:sym typeface="Roboto"/>
              </a:rPr>
              <a:t>In today's digitized world, computers are essential across various sectors. Laptops, offering portability and convenience, have become indispensable. This analysis explores diverse laptop models, focusing on brands like ASUS, Lenovo, Acer, and Avita. The dataset includes detailed specifications, prices, and market positions, providing valuable insights.</a:t>
            </a:r>
            <a:endParaRPr sz="1400">
              <a:solidFill>
                <a:srgbClr val="ECECEC"/>
              </a:solidFill>
              <a:highlight>
                <a:srgbClr val="212121"/>
              </a:highlight>
              <a:latin typeface="Roboto"/>
              <a:ea typeface="Roboto"/>
              <a:cs typeface="Roboto"/>
              <a:sym typeface="Roboto"/>
            </a:endParaRPr>
          </a:p>
          <a:p>
            <a:pPr indent="0" lvl="0" marL="0" rtl="0" algn="l">
              <a:spcBef>
                <a:spcPts val="1200"/>
              </a:spcBef>
              <a:spcAft>
                <a:spcPts val="0"/>
              </a:spcAft>
              <a:buNone/>
            </a:pPr>
            <a:r>
              <a:rPr b="1" lang="en" sz="1400">
                <a:solidFill>
                  <a:srgbClr val="ECECEC"/>
                </a:solidFill>
                <a:highlight>
                  <a:srgbClr val="212121"/>
                </a:highlight>
                <a:latin typeface="Roboto"/>
                <a:ea typeface="Roboto"/>
                <a:cs typeface="Roboto"/>
                <a:sym typeface="Roboto"/>
              </a:rPr>
              <a:t>Glimpse of the Dataset</a:t>
            </a:r>
            <a:endParaRPr b="1" sz="1400">
              <a:solidFill>
                <a:srgbClr val="ECECEC"/>
              </a:solidFill>
              <a:highlight>
                <a:srgbClr val="212121"/>
              </a:highlight>
              <a:latin typeface="Roboto"/>
              <a:ea typeface="Roboto"/>
              <a:cs typeface="Roboto"/>
              <a:sym typeface="Roboto"/>
            </a:endParaRPr>
          </a:p>
          <a:p>
            <a:pPr indent="0" lvl="0" marL="0" rtl="0" algn="l">
              <a:spcBef>
                <a:spcPts val="1200"/>
              </a:spcBef>
              <a:spcAft>
                <a:spcPts val="1200"/>
              </a:spcAft>
              <a:buNone/>
            </a:pPr>
            <a:r>
              <a:t/>
            </a:r>
            <a:endParaRPr b="1" sz="1400">
              <a:solidFill>
                <a:srgbClr val="ECECEC"/>
              </a:solidFill>
              <a:highlight>
                <a:srgbClr val="212121"/>
              </a:highlight>
              <a:latin typeface="Roboto"/>
              <a:ea typeface="Roboto"/>
              <a:cs typeface="Roboto"/>
              <a:sym typeface="Roboto"/>
            </a:endParaRPr>
          </a:p>
        </p:txBody>
      </p:sp>
      <p:pic>
        <p:nvPicPr>
          <p:cNvPr id="143" name="Google Shape;143;p14"/>
          <p:cNvPicPr preferRelativeResize="0"/>
          <p:nvPr/>
        </p:nvPicPr>
        <p:blipFill>
          <a:blip r:embed="rId3">
            <a:alphaModFix/>
          </a:blip>
          <a:stretch>
            <a:fillRect/>
          </a:stretch>
        </p:blipFill>
        <p:spPr>
          <a:xfrm>
            <a:off x="1950025" y="2855900"/>
            <a:ext cx="5243949" cy="2021825"/>
          </a:xfrm>
          <a:prstGeom prst="rect">
            <a:avLst/>
          </a:prstGeom>
          <a:noFill/>
          <a:ln>
            <a:noFill/>
          </a:ln>
        </p:spPr>
      </p:pic>
      <p:sp>
        <p:nvSpPr>
          <p:cNvPr id="144" name="Google Shape;14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METHODS</a:t>
            </a:r>
            <a:endParaRPr/>
          </a:p>
        </p:txBody>
      </p:sp>
      <p:sp>
        <p:nvSpPr>
          <p:cNvPr id="150" name="Google Shape;150;p15"/>
          <p:cNvSpPr txBox="1"/>
          <p:nvPr>
            <p:ph idx="1" type="body"/>
          </p:nvPr>
        </p:nvSpPr>
        <p:spPr>
          <a:xfrm>
            <a:off x="1297500" y="1116150"/>
            <a:ext cx="7038900" cy="3943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400"/>
              <a:t>This investigation used two methods: multiple linear regression and cluster analysis.</a:t>
            </a:r>
            <a:endParaRPr sz="1400"/>
          </a:p>
          <a:p>
            <a:pPr indent="0" lvl="0" marL="0" rtl="0" algn="just">
              <a:spcBef>
                <a:spcPts val="1200"/>
              </a:spcBef>
              <a:spcAft>
                <a:spcPts val="0"/>
              </a:spcAft>
              <a:buNone/>
            </a:pPr>
            <a:r>
              <a:rPr b="1" lang="en" sz="1400"/>
              <a:t>Multiple Linear Regression:</a:t>
            </a:r>
            <a:r>
              <a:rPr lang="en" sz="1400"/>
              <a:t> A method for analysing the relationship between multiple independent factors (e.g., processor specifications, RAM capacity, storage options) and a continuous dependent variable (price). This helps us understand how changes in the independent variables affect laptop prices.</a:t>
            </a:r>
            <a:endParaRPr sz="1400"/>
          </a:p>
          <a:p>
            <a:pPr indent="0" lvl="0" marL="0" rtl="0" algn="just">
              <a:spcBef>
                <a:spcPts val="1200"/>
              </a:spcBef>
              <a:spcAft>
                <a:spcPts val="0"/>
              </a:spcAft>
              <a:buNone/>
            </a:pPr>
            <a:r>
              <a:rPr b="1" lang="en" sz="1400"/>
              <a:t>Cluster Analysis:</a:t>
            </a:r>
            <a:r>
              <a:rPr lang="en" sz="1400"/>
              <a:t> A method for identifying groups or clusters within a dataset based on the similarity of observations. This helps to group similar computers together based on their specifications, enabling for the identification of market niches with distinct pricing characteristics.</a:t>
            </a:r>
            <a:endParaRPr sz="1400"/>
          </a:p>
          <a:p>
            <a:pPr indent="0" lvl="0" marL="0" rtl="0" algn="l">
              <a:spcBef>
                <a:spcPts val="1200"/>
              </a:spcBef>
              <a:spcAft>
                <a:spcPts val="0"/>
              </a:spcAft>
              <a:buNone/>
            </a:pPr>
            <a:r>
              <a:rPr lang="en" sz="1400"/>
              <a:t>There are few questions that we are looking to answer from our analysis.</a:t>
            </a:r>
            <a:endParaRPr sz="1400"/>
          </a:p>
          <a:p>
            <a:pPr indent="0" lvl="0" marL="0" rtl="0" algn="just">
              <a:spcBef>
                <a:spcPts val="100"/>
              </a:spcBef>
              <a:spcAft>
                <a:spcPts val="0"/>
              </a:spcAft>
              <a:buNone/>
            </a:pPr>
            <a:r>
              <a:t/>
            </a:r>
            <a:endParaRPr sz="1400"/>
          </a:p>
          <a:p>
            <a:pPr indent="0" lvl="0" marL="0" rtl="0" algn="l">
              <a:spcBef>
                <a:spcPts val="1200"/>
              </a:spcBef>
              <a:spcAft>
                <a:spcPts val="1200"/>
              </a:spcAft>
              <a:buNone/>
            </a:pPr>
            <a:r>
              <a:t/>
            </a:r>
            <a:endParaRPr/>
          </a:p>
        </p:txBody>
      </p:sp>
      <p:sp>
        <p:nvSpPr>
          <p:cNvPr id="151" name="Google Shape;15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idx="1" type="body"/>
          </p:nvPr>
        </p:nvSpPr>
        <p:spPr>
          <a:xfrm>
            <a:off x="1271150" y="579350"/>
            <a:ext cx="3946500" cy="4564200"/>
          </a:xfrm>
          <a:prstGeom prst="rect">
            <a:avLst/>
          </a:prstGeom>
        </p:spPr>
        <p:txBody>
          <a:bodyPr anchorCtr="0" anchor="t" bIns="91425" lIns="91425" spcFirstLastPara="1" rIns="91425" wrap="square" tIns="91425">
            <a:normAutofit lnSpcReduction="20000"/>
          </a:bodyPr>
          <a:lstStyle/>
          <a:p>
            <a:pPr indent="0" lvl="0" marL="0" marR="0" rtl="0" algn="just">
              <a:lnSpc>
                <a:spcPct val="115000"/>
              </a:lnSpc>
              <a:spcBef>
                <a:spcPts val="0"/>
              </a:spcBef>
              <a:spcAft>
                <a:spcPts val="0"/>
              </a:spcAft>
              <a:buNone/>
            </a:pPr>
            <a:r>
              <a:rPr b="1" lang="en" sz="1400"/>
              <a:t>Question 1: What is the price distribution among brands?</a:t>
            </a:r>
            <a:endParaRPr b="1" sz="1400"/>
          </a:p>
          <a:p>
            <a:pPr indent="0" lvl="0" marL="0" marR="0" rtl="0" algn="just">
              <a:lnSpc>
                <a:spcPct val="115000"/>
              </a:lnSpc>
              <a:spcBef>
                <a:spcPts val="1200"/>
              </a:spcBef>
              <a:spcAft>
                <a:spcPts val="0"/>
              </a:spcAft>
              <a:buNone/>
            </a:pPr>
            <a:r>
              <a:rPr lang="en" sz="1400"/>
              <a:t>Answer: The box plot depicts pricing on the y-axis and brand names on the x-axis. The box plot is useful for visualising outliers, such as very high and low prices. For example, ASUS has a laptop with the highest price, which is significantly higher than the typical laptop price.</a:t>
            </a:r>
            <a:endParaRPr sz="1400"/>
          </a:p>
          <a:p>
            <a:pPr indent="0" lvl="0" marL="0" marR="0" rtl="0" algn="just">
              <a:lnSpc>
                <a:spcPct val="115000"/>
              </a:lnSpc>
              <a:spcBef>
                <a:spcPts val="1200"/>
              </a:spcBef>
              <a:spcAft>
                <a:spcPts val="0"/>
              </a:spcAft>
              <a:buNone/>
            </a:pPr>
            <a:r>
              <a:t/>
            </a:r>
            <a:endParaRPr b="1" sz="1400"/>
          </a:p>
          <a:p>
            <a:pPr indent="0" lvl="0" marL="0" marR="0" rtl="0" algn="just">
              <a:lnSpc>
                <a:spcPct val="115000"/>
              </a:lnSpc>
              <a:spcBef>
                <a:spcPts val="1200"/>
              </a:spcBef>
              <a:spcAft>
                <a:spcPts val="0"/>
              </a:spcAft>
              <a:buNone/>
            </a:pPr>
            <a:r>
              <a:rPr b="1" lang="en" sz="1400"/>
              <a:t>Question 2: What are the most sold specifications in laptops?</a:t>
            </a:r>
            <a:endParaRPr b="1" sz="1400"/>
          </a:p>
          <a:p>
            <a:pPr indent="0" lvl="0" marL="0" marR="0" rtl="0" algn="just">
              <a:lnSpc>
                <a:spcPct val="115000"/>
              </a:lnSpc>
              <a:spcBef>
                <a:spcPts val="1200"/>
              </a:spcBef>
              <a:spcAft>
                <a:spcPts val="0"/>
              </a:spcAft>
              <a:buNone/>
            </a:pPr>
            <a:r>
              <a:rPr lang="en" sz="1400"/>
              <a:t>Answer: The most popular processor is the Core i5, the most common RAM is </a:t>
            </a:r>
            <a:r>
              <a:rPr lang="en" sz="1400"/>
              <a:t>8GB</a:t>
            </a:r>
            <a:r>
              <a:rPr lang="en" sz="1400"/>
              <a:t>, and most laptops lack specialised graphics units. These standards are primarily sold for office and educational uses.</a:t>
            </a:r>
            <a:endParaRPr sz="1400">
              <a:solidFill>
                <a:srgbClr val="ECECEC"/>
              </a:solidFill>
              <a:highlight>
                <a:srgbClr val="212121"/>
              </a:highlight>
              <a:latin typeface="Roboto"/>
              <a:ea typeface="Roboto"/>
              <a:cs typeface="Roboto"/>
              <a:sym typeface="Roboto"/>
            </a:endParaRPr>
          </a:p>
          <a:p>
            <a:pPr indent="0" lvl="0" marL="0" rtl="0" algn="l">
              <a:spcBef>
                <a:spcPts val="1200"/>
              </a:spcBef>
              <a:spcAft>
                <a:spcPts val="1200"/>
              </a:spcAft>
              <a:buNone/>
            </a:pPr>
            <a:r>
              <a:t/>
            </a:r>
            <a:endParaRPr sz="1200">
              <a:solidFill>
                <a:srgbClr val="ECECEC"/>
              </a:solidFill>
              <a:highlight>
                <a:srgbClr val="212121"/>
              </a:highlight>
              <a:latin typeface="Roboto"/>
              <a:ea typeface="Roboto"/>
              <a:cs typeface="Roboto"/>
              <a:sym typeface="Roboto"/>
            </a:endParaRPr>
          </a:p>
        </p:txBody>
      </p:sp>
      <p:pic>
        <p:nvPicPr>
          <p:cNvPr id="157" name="Google Shape;157;p16"/>
          <p:cNvPicPr preferRelativeResize="0"/>
          <p:nvPr/>
        </p:nvPicPr>
        <p:blipFill>
          <a:blip r:embed="rId3">
            <a:alphaModFix/>
          </a:blip>
          <a:stretch>
            <a:fillRect/>
          </a:stretch>
        </p:blipFill>
        <p:spPr>
          <a:xfrm>
            <a:off x="5808504" y="684750"/>
            <a:ext cx="2446246" cy="1992400"/>
          </a:xfrm>
          <a:prstGeom prst="rect">
            <a:avLst/>
          </a:prstGeom>
          <a:noFill/>
          <a:ln>
            <a:noFill/>
          </a:ln>
        </p:spPr>
      </p:pic>
      <p:pic>
        <p:nvPicPr>
          <p:cNvPr id="158" name="Google Shape;158;p16"/>
          <p:cNvPicPr preferRelativeResize="0"/>
          <p:nvPr/>
        </p:nvPicPr>
        <p:blipFill>
          <a:blip r:embed="rId4">
            <a:alphaModFix/>
          </a:blip>
          <a:stretch>
            <a:fillRect/>
          </a:stretch>
        </p:blipFill>
        <p:spPr>
          <a:xfrm>
            <a:off x="5490299" y="3005575"/>
            <a:ext cx="3346150" cy="1500550"/>
          </a:xfrm>
          <a:prstGeom prst="rect">
            <a:avLst/>
          </a:prstGeom>
          <a:noFill/>
          <a:ln>
            <a:noFill/>
          </a:ln>
        </p:spPr>
      </p:pic>
      <p:sp>
        <p:nvSpPr>
          <p:cNvPr id="159" name="Google Shape;15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txBox="1"/>
          <p:nvPr>
            <p:ph idx="1" type="body"/>
          </p:nvPr>
        </p:nvSpPr>
        <p:spPr>
          <a:xfrm>
            <a:off x="1297500" y="408450"/>
            <a:ext cx="4183500" cy="4734900"/>
          </a:xfrm>
          <a:prstGeom prst="rect">
            <a:avLst/>
          </a:prstGeom>
        </p:spPr>
        <p:txBody>
          <a:bodyPr anchorCtr="0" anchor="t" bIns="91425" lIns="91425" spcFirstLastPara="1" rIns="91425" wrap="square" tIns="91425">
            <a:normAutofit/>
          </a:bodyPr>
          <a:lstStyle/>
          <a:p>
            <a:pPr indent="0" lvl="0" marL="0" marR="0" rtl="0" algn="just">
              <a:lnSpc>
                <a:spcPct val="115000"/>
              </a:lnSpc>
              <a:spcBef>
                <a:spcPts val="0"/>
              </a:spcBef>
              <a:spcAft>
                <a:spcPts val="0"/>
              </a:spcAft>
              <a:buNone/>
            </a:pPr>
            <a:r>
              <a:rPr b="1" lang="en" sz="1400"/>
              <a:t>Question 3: Does the brand have an impact on the price?</a:t>
            </a:r>
            <a:endParaRPr b="1" sz="1400"/>
          </a:p>
          <a:p>
            <a:pPr indent="0" lvl="0" marL="0" marR="0" rtl="0" algn="just">
              <a:lnSpc>
                <a:spcPct val="115000"/>
              </a:lnSpc>
              <a:spcBef>
                <a:spcPts val="1200"/>
              </a:spcBef>
              <a:spcAft>
                <a:spcPts val="0"/>
              </a:spcAft>
              <a:buNone/>
            </a:pPr>
            <a:r>
              <a:rPr lang="en" sz="1400"/>
              <a:t>Answer: ANOVA test findings indicate that the brand price influences the laptop pricing. The Tukey HSD test identifies specific pairings of brands that differ significantly in terms of mean prices.</a:t>
            </a:r>
            <a:endParaRPr sz="1400"/>
          </a:p>
          <a:p>
            <a:pPr indent="0" lvl="0" marL="0" marR="0" rtl="0" algn="just">
              <a:lnSpc>
                <a:spcPct val="115000"/>
              </a:lnSpc>
              <a:spcBef>
                <a:spcPts val="1200"/>
              </a:spcBef>
              <a:spcAft>
                <a:spcPts val="0"/>
              </a:spcAft>
              <a:buNone/>
            </a:pPr>
            <a:r>
              <a:t/>
            </a:r>
            <a:endParaRPr b="1" sz="1400"/>
          </a:p>
          <a:p>
            <a:pPr indent="0" lvl="0" marL="0" marR="0" rtl="0" algn="just">
              <a:lnSpc>
                <a:spcPct val="115000"/>
              </a:lnSpc>
              <a:spcBef>
                <a:spcPts val="1200"/>
              </a:spcBef>
              <a:spcAft>
                <a:spcPts val="0"/>
              </a:spcAft>
              <a:buNone/>
            </a:pPr>
            <a:r>
              <a:rPr b="1" lang="en" sz="1400"/>
              <a:t>Question 4: Does user rating change the price of the product?</a:t>
            </a:r>
            <a:endParaRPr b="1" sz="1400"/>
          </a:p>
          <a:p>
            <a:pPr indent="0" lvl="0" marL="0" marR="0" rtl="0" algn="just">
              <a:lnSpc>
                <a:spcPct val="115000"/>
              </a:lnSpc>
              <a:spcBef>
                <a:spcPts val="1200"/>
              </a:spcBef>
              <a:spcAft>
                <a:spcPts val="0"/>
              </a:spcAft>
              <a:buNone/>
            </a:pPr>
            <a:r>
              <a:rPr lang="en" sz="1400"/>
              <a:t>Answer: The linear regression model for user rating and price revealed no significant linear relationships. The coefficient for user rating was not statistically significant, showing that user rating had no meaningful effect on laptop price.</a:t>
            </a:r>
            <a:endParaRPr sz="1400">
              <a:solidFill>
                <a:srgbClr val="ECECEC"/>
              </a:solidFill>
              <a:highlight>
                <a:srgbClr val="212121"/>
              </a:highlight>
              <a:latin typeface="Roboto"/>
              <a:ea typeface="Roboto"/>
              <a:cs typeface="Roboto"/>
              <a:sym typeface="Roboto"/>
            </a:endParaRPr>
          </a:p>
          <a:p>
            <a:pPr indent="0" lvl="0" marL="0" rtl="0" algn="l">
              <a:spcBef>
                <a:spcPts val="1200"/>
              </a:spcBef>
              <a:spcAft>
                <a:spcPts val="1200"/>
              </a:spcAft>
              <a:buNone/>
            </a:pPr>
            <a:r>
              <a:t/>
            </a:r>
            <a:endParaRPr sz="1200">
              <a:solidFill>
                <a:srgbClr val="ECECEC"/>
              </a:solidFill>
              <a:highlight>
                <a:srgbClr val="212121"/>
              </a:highlight>
              <a:latin typeface="Roboto"/>
              <a:ea typeface="Roboto"/>
              <a:cs typeface="Roboto"/>
              <a:sym typeface="Roboto"/>
            </a:endParaRPr>
          </a:p>
        </p:txBody>
      </p:sp>
      <p:pic>
        <p:nvPicPr>
          <p:cNvPr id="165" name="Google Shape;165;p17"/>
          <p:cNvPicPr preferRelativeResize="0"/>
          <p:nvPr/>
        </p:nvPicPr>
        <p:blipFill>
          <a:blip r:embed="rId3">
            <a:alphaModFix/>
          </a:blip>
          <a:stretch>
            <a:fillRect/>
          </a:stretch>
        </p:blipFill>
        <p:spPr>
          <a:xfrm>
            <a:off x="5677700" y="502275"/>
            <a:ext cx="2623049" cy="1942624"/>
          </a:xfrm>
          <a:prstGeom prst="rect">
            <a:avLst/>
          </a:prstGeom>
          <a:noFill/>
          <a:ln>
            <a:noFill/>
          </a:ln>
        </p:spPr>
      </p:pic>
      <p:pic>
        <p:nvPicPr>
          <p:cNvPr id="166" name="Google Shape;166;p17"/>
          <p:cNvPicPr preferRelativeResize="0"/>
          <p:nvPr/>
        </p:nvPicPr>
        <p:blipFill>
          <a:blip r:embed="rId4">
            <a:alphaModFix/>
          </a:blip>
          <a:stretch>
            <a:fillRect/>
          </a:stretch>
        </p:blipFill>
        <p:spPr>
          <a:xfrm>
            <a:off x="5677700" y="2781750"/>
            <a:ext cx="2949875" cy="1777075"/>
          </a:xfrm>
          <a:prstGeom prst="rect">
            <a:avLst/>
          </a:prstGeom>
          <a:noFill/>
          <a:ln>
            <a:noFill/>
          </a:ln>
        </p:spPr>
      </p:pic>
      <p:sp>
        <p:nvSpPr>
          <p:cNvPr id="167" name="Google Shape;16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idx="1" type="body"/>
          </p:nvPr>
        </p:nvSpPr>
        <p:spPr>
          <a:xfrm>
            <a:off x="1323850" y="605725"/>
            <a:ext cx="6990000" cy="4537800"/>
          </a:xfrm>
          <a:prstGeom prst="rect">
            <a:avLst/>
          </a:prstGeom>
        </p:spPr>
        <p:txBody>
          <a:bodyPr anchorCtr="0" anchor="t" bIns="91425" lIns="91425" spcFirstLastPara="1" rIns="91425" wrap="square" tIns="91425">
            <a:normAutofit/>
          </a:bodyPr>
          <a:lstStyle/>
          <a:p>
            <a:pPr indent="0" lvl="0" marL="0" marR="0" rtl="0" algn="just">
              <a:lnSpc>
                <a:spcPct val="115000"/>
              </a:lnSpc>
              <a:spcBef>
                <a:spcPts val="0"/>
              </a:spcBef>
              <a:spcAft>
                <a:spcPts val="0"/>
              </a:spcAft>
              <a:buNone/>
            </a:pPr>
            <a:r>
              <a:rPr b="1" lang="en" sz="1400"/>
              <a:t>Question 5: Multiple Linear Regression</a:t>
            </a:r>
            <a:endParaRPr b="1" sz="1400"/>
          </a:p>
          <a:p>
            <a:pPr indent="0" lvl="0" marL="0" marR="0" rtl="0" algn="just">
              <a:lnSpc>
                <a:spcPct val="115000"/>
              </a:lnSpc>
              <a:spcBef>
                <a:spcPts val="1200"/>
              </a:spcBef>
              <a:spcAft>
                <a:spcPts val="0"/>
              </a:spcAft>
              <a:buNone/>
            </a:pPr>
            <a:r>
              <a:rPr lang="en" sz="1400"/>
              <a:t>Answer: In multiple linear regression, categorical values were transformed into factors. The investigation sought to determine whether ratings have a linear association with laptop prices. The results revealed that there was no statistically significant linear association between the rating and laptop prices.</a:t>
            </a:r>
            <a:endParaRPr sz="1400"/>
          </a:p>
          <a:p>
            <a:pPr indent="0" lvl="0" marL="0" marR="0" rtl="0" algn="just">
              <a:lnSpc>
                <a:spcPct val="115000"/>
              </a:lnSpc>
              <a:spcBef>
                <a:spcPts val="1200"/>
              </a:spcBef>
              <a:spcAft>
                <a:spcPts val="0"/>
              </a:spcAft>
              <a:buNone/>
            </a:pPr>
            <a:r>
              <a:t/>
            </a:r>
            <a:endParaRPr b="1" sz="1400"/>
          </a:p>
          <a:p>
            <a:pPr indent="0" lvl="0" marL="0" marR="0" rtl="0" algn="just">
              <a:lnSpc>
                <a:spcPct val="115000"/>
              </a:lnSpc>
              <a:spcBef>
                <a:spcPts val="1200"/>
              </a:spcBef>
              <a:spcAft>
                <a:spcPts val="0"/>
              </a:spcAft>
              <a:buNone/>
            </a:pPr>
            <a:r>
              <a:rPr b="1" lang="en" sz="1400"/>
              <a:t>Question 6: Cluster Analysis</a:t>
            </a:r>
            <a:endParaRPr b="1" sz="1400"/>
          </a:p>
          <a:p>
            <a:pPr indent="0" lvl="0" marL="0" marR="0" rtl="0" algn="just">
              <a:lnSpc>
                <a:spcPct val="115000"/>
              </a:lnSpc>
              <a:spcBef>
                <a:spcPts val="1200"/>
              </a:spcBef>
              <a:spcAft>
                <a:spcPts val="0"/>
              </a:spcAft>
              <a:buNone/>
            </a:pPr>
            <a:r>
              <a:rPr lang="en" sz="1400"/>
              <a:t>Answer: Cluster analysis was performed to categorise similar computers based on specifications. This helps define market segments with various pricing characteristics depending on processor specifications, RAM capacity, storage options, and so on.</a:t>
            </a:r>
            <a:endParaRPr sz="1400">
              <a:solidFill>
                <a:srgbClr val="ECECEC"/>
              </a:solidFill>
              <a:highlight>
                <a:srgbClr val="212121"/>
              </a:highlight>
              <a:latin typeface="Roboto"/>
              <a:ea typeface="Roboto"/>
              <a:cs typeface="Roboto"/>
              <a:sym typeface="Roboto"/>
            </a:endParaRPr>
          </a:p>
          <a:p>
            <a:pPr indent="0" lvl="0" marL="0" rtl="0" algn="l">
              <a:spcBef>
                <a:spcPts val="1200"/>
              </a:spcBef>
              <a:spcAft>
                <a:spcPts val="1200"/>
              </a:spcAft>
              <a:buNone/>
            </a:pPr>
            <a:r>
              <a:t/>
            </a:r>
            <a:endParaRPr sz="1200">
              <a:solidFill>
                <a:srgbClr val="ECECEC"/>
              </a:solidFill>
              <a:highlight>
                <a:srgbClr val="212121"/>
              </a:highlight>
              <a:latin typeface="Roboto"/>
              <a:ea typeface="Roboto"/>
              <a:cs typeface="Roboto"/>
              <a:sym typeface="Roboto"/>
            </a:endParaRPr>
          </a:p>
        </p:txBody>
      </p:sp>
      <p:sp>
        <p:nvSpPr>
          <p:cNvPr id="173" name="Google Shape;17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179" name="Google Shape;179;p19"/>
          <p:cNvSpPr txBox="1"/>
          <p:nvPr>
            <p:ph idx="1" type="body"/>
          </p:nvPr>
        </p:nvSpPr>
        <p:spPr>
          <a:xfrm>
            <a:off x="1297500" y="1027350"/>
            <a:ext cx="7038900" cy="4116300"/>
          </a:xfrm>
          <a:prstGeom prst="rect">
            <a:avLst/>
          </a:prstGeom>
        </p:spPr>
        <p:txBody>
          <a:bodyPr anchorCtr="0" anchor="t" bIns="91425" lIns="91425" spcFirstLastPara="1" rIns="91425" wrap="square" tIns="91425">
            <a:normAutofit fontScale="92500" lnSpcReduction="10000"/>
          </a:bodyPr>
          <a:lstStyle/>
          <a:p>
            <a:pPr indent="0" lvl="0" marL="0" marR="0" rtl="0" algn="just">
              <a:lnSpc>
                <a:spcPct val="115000"/>
              </a:lnSpc>
              <a:spcBef>
                <a:spcPts val="0"/>
              </a:spcBef>
              <a:spcAft>
                <a:spcPts val="0"/>
              </a:spcAft>
              <a:buNone/>
            </a:pPr>
            <a:r>
              <a:rPr lang="en" sz="1400"/>
              <a:t>The analysis of the laptop price dataset revealed significant findings. Brand pricing varied widely, with some brands commanding higher prices. The most popular configurations featured 4GB RAM, Core i3 processors, and no dedicated graphics cards. User ratings correlated with higher prices. The adjusted R-squared of 59.5% indicates the model's significance. Recommendations include focusing on popular configurations and utilizing brand positioning for pricing strategies.</a:t>
            </a:r>
            <a:endParaRPr sz="1400"/>
          </a:p>
          <a:p>
            <a:pPr indent="0" lvl="0" marL="0" marR="0" rtl="0" algn="just">
              <a:lnSpc>
                <a:spcPct val="115000"/>
              </a:lnSpc>
              <a:spcBef>
                <a:spcPts val="1200"/>
              </a:spcBef>
              <a:spcAft>
                <a:spcPts val="0"/>
              </a:spcAft>
              <a:buNone/>
            </a:pPr>
            <a:r>
              <a:t/>
            </a:r>
            <a:endParaRPr sz="1400"/>
          </a:p>
          <a:p>
            <a:pPr indent="0" lvl="0" marL="0" marR="0" rtl="0" algn="just">
              <a:lnSpc>
                <a:spcPct val="115000"/>
              </a:lnSpc>
              <a:spcBef>
                <a:spcPts val="1200"/>
              </a:spcBef>
              <a:spcAft>
                <a:spcPts val="0"/>
              </a:spcAft>
              <a:buNone/>
            </a:pPr>
            <a:r>
              <a:rPr b="1" lang="en" sz="1400"/>
              <a:t>References:</a:t>
            </a:r>
            <a:endParaRPr b="1" sz="1400"/>
          </a:p>
          <a:p>
            <a:pPr indent="-310832" lvl="0" marL="457200" marR="0" rtl="0" algn="just">
              <a:lnSpc>
                <a:spcPct val="115000"/>
              </a:lnSpc>
              <a:spcBef>
                <a:spcPts val="1200"/>
              </a:spcBef>
              <a:spcAft>
                <a:spcPts val="0"/>
              </a:spcAft>
              <a:buSzPct val="100000"/>
              <a:buChar char="●"/>
            </a:pPr>
            <a:r>
              <a:rPr lang="en" sz="1400"/>
              <a:t>Goyal, A. (2023, May 7). Laptop prices dataset. Kaggle.</a:t>
            </a:r>
            <a:endParaRPr sz="1400"/>
          </a:p>
          <a:p>
            <a:pPr indent="0" lvl="0" marL="457200" marR="0" rtl="0" algn="just">
              <a:lnSpc>
                <a:spcPct val="115000"/>
              </a:lnSpc>
              <a:spcBef>
                <a:spcPts val="1200"/>
              </a:spcBef>
              <a:spcAft>
                <a:spcPts val="0"/>
              </a:spcAft>
              <a:buNone/>
            </a:pPr>
            <a:r>
              <a:rPr lang="en" sz="1400">
                <a:uFill>
                  <a:noFill/>
                </a:uFill>
                <a:hlinkClick r:id="rId3"/>
              </a:rPr>
              <a:t>https://www.kaggle.com/datasets/anubhavgoyal10/laptop-prices-dataset</a:t>
            </a:r>
            <a:r>
              <a:rPr lang="en" sz="1400"/>
              <a:t> </a:t>
            </a:r>
            <a:endParaRPr sz="1400"/>
          </a:p>
          <a:p>
            <a:pPr indent="-310832" lvl="0" marL="457200" marR="0" rtl="0" algn="l">
              <a:lnSpc>
                <a:spcPct val="115000"/>
              </a:lnSpc>
              <a:spcBef>
                <a:spcPts val="1200"/>
              </a:spcBef>
              <a:spcAft>
                <a:spcPts val="0"/>
              </a:spcAft>
              <a:buSzPct val="100000"/>
              <a:buChar char="●"/>
            </a:pPr>
            <a:r>
              <a:rPr lang="en" sz="1400"/>
              <a:t>Ie. “Using the R-Squared Statistic in ANOVA and General Linear Models.” Implementation, 25 Apr. 2019, www.implementation.com/using-the-r-squared-statistic-in-anova-and-general-linear-models/. </a:t>
            </a:r>
            <a:endParaRPr sz="1100">
              <a:solidFill>
                <a:srgbClr val="000000"/>
              </a:solidFill>
              <a:latin typeface="Arial"/>
              <a:ea typeface="Arial"/>
              <a:cs typeface="Arial"/>
              <a:sym typeface="Arial"/>
            </a:endParaRPr>
          </a:p>
          <a:p>
            <a:pPr indent="0" lvl="0" marL="0" rtl="0" algn="just">
              <a:spcBef>
                <a:spcPts val="1200"/>
              </a:spcBef>
              <a:spcAft>
                <a:spcPts val="1200"/>
              </a:spcAft>
              <a:buNone/>
            </a:pPr>
            <a:r>
              <a:t/>
            </a:r>
            <a:endParaRPr b="1" sz="1400">
              <a:solidFill>
                <a:srgbClr val="ECECEC"/>
              </a:solidFill>
              <a:highlight>
                <a:srgbClr val="212121"/>
              </a:highlight>
              <a:latin typeface="Roboto"/>
              <a:ea typeface="Roboto"/>
              <a:cs typeface="Roboto"/>
              <a:sym typeface="Roboto"/>
            </a:endParaRPr>
          </a:p>
        </p:txBody>
      </p:sp>
      <p:sp>
        <p:nvSpPr>
          <p:cNvPr id="180" name="Google Shape;18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